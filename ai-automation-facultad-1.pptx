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73936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2304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90672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49039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65776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24144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82512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79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99248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57616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15984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74352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32719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91088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49456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02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AA5BB"/>
                </a:solidFill>
                <a:latin typeface="Calibri"/>
              </a:rPr>
              <a:t>PROPUESTA ACADEMICA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960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AI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9202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9AA5BB"/>
                </a:solidFill>
                <a:latin typeface="Calibri"/>
              </a:rPr>
              <a:t>Diplomatura en Automatizacion
e Inteligencia Artificial Aplicada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108960"/>
            <a:ext cx="5029200" cy="27432"/>
          </a:xfrm>
          <a:prstGeom prst="rect">
            <a:avLst/>
          </a:prstGeom>
          <a:solidFill>
            <a:srgbClr val="2E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2918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A5BB"/>
                </a:solidFill>
                <a:latin typeface="Calibri"/>
              </a:rPr>
              <a:t>Programa de extension universitaria orientado a profesionales
y duenos de negocio que buscan aplicar IA de forma practica.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343400"/>
            <a:ext cx="2377440" cy="1005840"/>
          </a:xfrm>
          <a:prstGeom prst="rect">
            <a:avLst/>
          </a:prstGeom>
          <a:solidFill>
            <a:srgbClr val="173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343400"/>
            <a:ext cx="2377440" cy="45720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45312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0109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B"/>
                </a:solidFill>
                <a:latin typeface="Calibri"/>
              </a:rPr>
              <a:t>semanas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54680" y="4343400"/>
            <a:ext cx="2377440" cy="1005840"/>
          </a:xfrm>
          <a:prstGeom prst="rect">
            <a:avLst/>
          </a:prstGeom>
          <a:solidFill>
            <a:srgbClr val="173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54680" y="4343400"/>
            <a:ext cx="2377440" cy="45720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445312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50109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B"/>
                </a:solidFill>
                <a:latin typeface="Calibri"/>
              </a:rPr>
              <a:t>horas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4343400"/>
            <a:ext cx="2377440" cy="1005840"/>
          </a:xfrm>
          <a:prstGeom prst="rect">
            <a:avLst/>
          </a:prstGeom>
          <a:solidFill>
            <a:srgbClr val="173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06440" y="4343400"/>
            <a:ext cx="2377440" cy="45720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445312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1x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50109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B"/>
                </a:solidFill>
                <a:latin typeface="Calibri"/>
              </a:rPr>
              <a:t>clase/semana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4343400"/>
            <a:ext cx="2377440" cy="1005840"/>
          </a:xfrm>
          <a:prstGeom prst="rect">
            <a:avLst/>
          </a:prstGeom>
          <a:solidFill>
            <a:srgbClr val="173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58200" y="4343400"/>
            <a:ext cx="2377440" cy="45720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45312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50109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B"/>
                </a:solidFill>
                <a:latin typeface="Calibri"/>
              </a:rPr>
              <a:t>requisitos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53796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A99"/>
                </a:solidFill>
                <a:latin typeface="Calibri"/>
              </a:rPr>
              <a:t>Programa No-Code  |  Resultados desde la primera semana  |  Caso real integrado en todas las clases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3474720" cy="292608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FUNDAMENTACION ACADEMICA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Por que este programa
es necesario ahora.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534924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5349240" cy="54864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A"/>
                </a:solidFill>
                <a:latin typeface="Calibri"/>
              </a:rPr>
              <a:t>Contexto del mercado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487168"/>
            <a:ext cx="658368" cy="45720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658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523744"/>
            <a:ext cx="4251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de las PyMEs aun gestionan procesos clave de forma manual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01568"/>
            <a:ext cx="658368" cy="45720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658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38144"/>
            <a:ext cx="4251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de los profesionales afirman que la IA cambiara su rol en los proximos 3 anos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315968"/>
            <a:ext cx="658368" cy="45720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43400"/>
            <a:ext cx="658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52544"/>
            <a:ext cx="4251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mas productividad en equipos que integran automatizacion con 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230368"/>
            <a:ext cx="658368" cy="45720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257800"/>
            <a:ext cx="658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$+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4251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El salario promedio sube 38% en roles con competencias de IA aplicada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874519"/>
            <a:ext cx="534924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874519"/>
            <a:ext cx="5349240" cy="54864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01168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500A"/>
                </a:solidFill>
                <a:latin typeface="Calibri"/>
              </a:rPr>
              <a:t>Brecha de formacion existente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2450592"/>
            <a:ext cx="329184" cy="329184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487168"/>
            <a:ext cx="32918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6016" y="248716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Los cursos tecnicos existentes requieren conocimientos de programacion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3136392"/>
            <a:ext cx="329184" cy="329184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172968"/>
            <a:ext cx="32918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317296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Los MBAs y postgrados no incluyen herramientas practicas de IA</a:t>
            </a:r>
          </a:p>
        </p:txBody>
      </p:sp>
      <p:sp>
        <p:nvSpPr>
          <p:cNvPr id="30" name="Oval 29"/>
          <p:cNvSpPr/>
          <p:nvPr/>
        </p:nvSpPr>
        <p:spPr>
          <a:xfrm>
            <a:off x="6537960" y="3822191"/>
            <a:ext cx="329184" cy="329184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858768"/>
            <a:ext cx="32918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385876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La mayoria de la oferta educativa es en ingles y orientada a perfiles IT</a:t>
            </a:r>
          </a:p>
        </p:txBody>
      </p:sp>
      <p:sp>
        <p:nvSpPr>
          <p:cNvPr id="33" name="Oval 32"/>
          <p:cNvSpPr/>
          <p:nvPr/>
        </p:nvSpPr>
        <p:spPr>
          <a:xfrm>
            <a:off x="6537960" y="4507992"/>
            <a:ext cx="329184" cy="329184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544568"/>
            <a:ext cx="32918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6" y="454456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No existe formacion en espanol enfocada en automatizacion no-code para negocios</a:t>
            </a:r>
          </a:p>
        </p:txBody>
      </p:sp>
      <p:sp>
        <p:nvSpPr>
          <p:cNvPr id="36" name="Oval 35"/>
          <p:cNvSpPr/>
          <p:nvPr/>
        </p:nvSpPr>
        <p:spPr>
          <a:xfrm>
            <a:off x="6537960" y="5193792"/>
            <a:ext cx="329184" cy="329184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230368"/>
            <a:ext cx="329184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86016" y="523036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El mercado demanda profesionales que puedan implementar — no solo entender — la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3474720" cy="292608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DESCRIPCION DEL PROGRAMA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Estructura academica y metodologia.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42316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423160" cy="54864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39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500A"/>
                </a:solidFill>
                <a:latin typeface="Calibr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1600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5BB"/>
                </a:solidFill>
                <a:latin typeface="Calibri"/>
              </a:rPr>
              <a:t>sem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305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Duracion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1325880"/>
            <a:ext cx="242316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27832" y="1325880"/>
            <a:ext cx="2423160" cy="54864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1463039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234A"/>
                </a:solidFill>
                <a:latin typeface="Calibri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1600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5BB"/>
                </a:solidFill>
                <a:latin typeface="Calibri"/>
              </a:rPr>
              <a:t>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21305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Carga horaria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52744" y="1325880"/>
            <a:ext cx="242316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52744" y="1325880"/>
            <a:ext cx="2423160" cy="54864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5624" y="1463039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234A"/>
                </a:solidFill>
                <a:latin typeface="Calibri"/>
              </a:rPr>
              <a:t>1x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600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5BB"/>
                </a:solidFill>
                <a:latin typeface="Calibri"/>
              </a:rPr>
              <a:t>/sem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5624" y="21305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Clases en vivo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77656" y="1325880"/>
            <a:ext cx="242316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77656" y="1325880"/>
            <a:ext cx="2423160" cy="54864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0536" y="1463039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6B4A"/>
                </a:solidFill>
                <a:latin typeface="Calibri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1600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5BB"/>
                </a:solidFill>
                <a:latin typeface="Calibri"/>
              </a:rPr>
              <a:t>req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0536" y="21305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Requisitos previos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834640"/>
            <a:ext cx="11155680" cy="384048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9260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401568"/>
            <a:ext cx="53492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401568"/>
            <a:ext cx="73152" cy="1170432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5112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Clase semanal en vivo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904488"/>
            <a:ext cx="4983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2 horas de duracion. Teoria + practica guiada en el momento.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9048" y="3401568"/>
            <a:ext cx="53492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9048" y="3401568"/>
            <a:ext cx="73152" cy="117043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35112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Caso conductor unico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3904488"/>
            <a:ext cx="4983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El caso Lumina recorre las 20 semanas como hilo integrador.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773168"/>
            <a:ext cx="53492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773168"/>
            <a:ext cx="73152" cy="1170432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8828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Entregable por bloque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276088"/>
            <a:ext cx="4983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Al final de cada bloque, el alumno presenta algo funcionando en su negocio.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9048" y="4773168"/>
            <a:ext cx="53492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9048" y="4773168"/>
            <a:ext cx="73152" cy="117043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48828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Demo Day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5276088"/>
            <a:ext cx="4983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La semana 20 cada alumno presenta su sistema en vivo con metricas de impacto.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2743200" cy="292608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PLAN DE ESTUDIOS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4 bloques de 5 semanas. Progresion gradual.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556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91440" cy="1170432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581912"/>
            <a:ext cx="1371600" cy="329184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02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Bloque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B"/>
                </a:solidFill>
                <a:latin typeface="Calibri"/>
              </a:rPr>
              <a:t>Sem 1-5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4173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Fundamentos Digitales y Mentalidad de Automatizacion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1819656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Mapeo de procesos, prompting para negocios, estructuracion de datos y primer flujo automatizado con Zapier.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45168" y="1673352"/>
            <a:ext cx="2176272" cy="493776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36608" y="16733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AA5BB"/>
                </a:solidFill>
                <a:latin typeface="Calibri"/>
              </a:rPr>
              <a:t>Entregable: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6608" y="1892807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34A"/>
                </a:solidFill>
                <a:latin typeface="Calibri"/>
              </a:rPr>
              <a:t>Mapa de automatizacion del negocio propio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651760"/>
            <a:ext cx="111556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651760"/>
            <a:ext cx="91440" cy="1170432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2907791"/>
            <a:ext cx="1371600" cy="329184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292607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Bloque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3101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B"/>
                </a:solidFill>
                <a:latin typeface="Calibri"/>
              </a:rPr>
              <a:t>Sem 6-10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274320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Automatizaciones sin Codigo con n8n y Make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3145536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Construccion de flujos visuales, integracion de herramientas (Gmail, WhatsApp, Slack, Notion) y manejo de errores.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45168" y="2999232"/>
            <a:ext cx="2176272" cy="493776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36608" y="299923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AA5BB"/>
                </a:solidFill>
                <a:latin typeface="Calibri"/>
              </a:rPr>
              <a:t>Entregable: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321868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34A"/>
                </a:solidFill>
                <a:latin typeface="Calibri"/>
              </a:rPr>
              <a:t>Pipeline operativo funcional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977639"/>
            <a:ext cx="111556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977639"/>
            <a:ext cx="91440" cy="1170432"/>
          </a:xfrm>
          <a:prstGeom prst="rect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4233672"/>
            <a:ext cx="1371600" cy="329184"/>
          </a:xfrm>
          <a:prstGeom prst="rect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425195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Bloque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63600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B"/>
                </a:solidFill>
                <a:latin typeface="Calibri"/>
              </a:rPr>
              <a:t>Sem 11-15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04288" y="4069079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Integracion de Inteligencia Artificial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04288" y="4471416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Conexion de LLMs (ChatGPT, Gemini) a flujos automatizados, clasificacion de mensajes, respuestas personalizadas y analisis de sentimiento.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45168" y="4325112"/>
            <a:ext cx="2176272" cy="493776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36608" y="432511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AA5BB"/>
                </a:solidFill>
                <a:latin typeface="Calibri"/>
              </a:rPr>
              <a:t>Entregable: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6608" y="454456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34A"/>
                </a:solidFill>
                <a:latin typeface="Calibri"/>
              </a:rPr>
              <a:t>Sistema de atencion al cliente con 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303520"/>
            <a:ext cx="111556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303520"/>
            <a:ext cx="91440" cy="1170432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8" y="5559552"/>
            <a:ext cx="1371600" cy="329184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" y="55778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Bloque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5961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B"/>
                </a:solidFill>
                <a:latin typeface="Calibri"/>
              </a:rPr>
              <a:t>Sem 16-20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04288" y="5394959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Agente Autonomo y Proyecto Final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04288" y="5797296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Construccion del agente post-venta completo, adaptacion al negocio propio, calculo de ROI y Demo Day.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45168" y="5650992"/>
            <a:ext cx="2176272" cy="493776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36608" y="565099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AA5BB"/>
                </a:solidFill>
                <a:latin typeface="Calibri"/>
              </a:rPr>
              <a:t>Entregable: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36608" y="587044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34A"/>
                </a:solidFill>
                <a:latin typeface="Calibri"/>
              </a:rPr>
              <a:t>Demo Day: sistema completo en vivo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3657600" cy="292608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3520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PUBLICO OBJETIVO Y PERFIL DE EGRESO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A quien va dirigido y que va a poder hacer.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34924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349240" cy="54864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A"/>
                </a:solidFill>
                <a:latin typeface="Calibri"/>
              </a:rPr>
              <a:t>Perfil de ingreso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029968"/>
            <a:ext cx="402336" cy="402336"/>
          </a:xfrm>
          <a:prstGeom prst="ellipse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66544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04825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Duenos y directivos de negocio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37744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PyMEs, emprendedores, comerciantes digitales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962656"/>
            <a:ext cx="402336" cy="402336"/>
          </a:xfrm>
          <a:prstGeom prst="ellipse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8094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Profesionales de areas de negocio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31012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Marketing, ventas, operaciones, administracion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895344"/>
            <a:ext cx="402336" cy="402336"/>
          </a:xfrm>
          <a:prstGeom prst="ellipse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3192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913632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Freelancers y consultores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24281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Que quieren escalar su capacidad de entrega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828032"/>
            <a:ext cx="402336" cy="402336"/>
          </a:xfrm>
          <a:prstGeom prst="ellipse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864608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4846320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Empleados en transicion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517550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Que buscan diferenciarse con competencias de 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669280"/>
            <a:ext cx="4983480" cy="5029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742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234A"/>
                </a:solidFill>
                <a:latin typeface="Calibri"/>
              </a:rPr>
              <a:t>No se requieren conocimientos previos de programacion ni tecnologia.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1325880"/>
            <a:ext cx="534924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325880"/>
            <a:ext cx="5349240" cy="54864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1463040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500A"/>
                </a:solidFill>
                <a:latin typeface="Calibri"/>
              </a:rPr>
              <a:t>Perfil de egreso — competencias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1993392"/>
            <a:ext cx="310896" cy="310896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200253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20116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Identificar y priorizar procesos automatizables con criterio de ROI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2651760"/>
            <a:ext cx="310896" cy="310896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266090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267004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Construir flujos de automatizacion sin codigo con n8n y Make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3310128"/>
            <a:ext cx="310896" cy="310896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3319272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332841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Integrar modelos de IA (LLMs) en procesos de negocio reales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3968496"/>
            <a:ext cx="310896" cy="310896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6248" y="3977639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7728" y="398678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Disenar agentes autonomos de atencion al cliente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7960" y="4626864"/>
            <a:ext cx="310896" cy="310896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56248" y="463600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7728" y="46451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Medir y comunicar el impacto de la automatizacion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7960" y="5285231"/>
            <a:ext cx="310896" cy="310896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56248" y="5294375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8" y="53035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Adaptar soluciones a distintos tipos de negocio e industria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01168"/>
            <a:ext cx="4114800" cy="292608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37744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STACK TECNOLOGICO Y CASO INTEGRADOR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Herramientas utilizadas y metodologia del caso.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6858000" cy="41148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99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Herramienta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99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Uso en el programa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99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09928"/>
            <a:ext cx="6858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7393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n8n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7393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Motor principal de automatizaciones visuales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01368"/>
            <a:ext cx="1005840" cy="292608"/>
          </a:xfrm>
          <a:prstGeom prst="rect">
            <a:avLst/>
          </a:prstGeom>
          <a:solidFill>
            <a:srgbClr val="DD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819656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4A"/>
                </a:solidFill>
                <a:latin typeface="Calibri"/>
              </a:rPr>
              <a:t>Gratis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40280"/>
            <a:ext cx="6858000" cy="53035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30428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Make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30428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Automatizaciones orientadas a entornos empresariales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331720"/>
            <a:ext cx="1005840" cy="292608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2350008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500A"/>
                </a:solidFill>
                <a:latin typeface="Calibri"/>
              </a:rPr>
              <a:t>Freemium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770632"/>
            <a:ext cx="6858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34639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ChatGPT / GPT-4o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834639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Clasificacion, respuestas e interpretacion de 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862072"/>
            <a:ext cx="1005840" cy="292608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2880360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500A"/>
                </a:solidFill>
                <a:latin typeface="Calibri"/>
              </a:rPr>
              <a:t>Freemium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00984"/>
            <a:ext cx="6858000" cy="53035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364991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Google Gemini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364991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Alternativa gratuita de IA para flujos del programa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392424"/>
            <a:ext cx="1005840" cy="292608"/>
          </a:xfrm>
          <a:prstGeom prst="rect">
            <a:avLst/>
          </a:prstGeom>
          <a:solidFill>
            <a:srgbClr val="DD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5352" y="3410711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4A"/>
                </a:solidFill>
                <a:latin typeface="Calibri"/>
              </a:rPr>
              <a:t>Gratis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831335"/>
            <a:ext cx="6858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8953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Airtable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89534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Base de datos visual para datos del negocio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922776"/>
            <a:ext cx="1005840" cy="292608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352" y="3941063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500A"/>
                </a:solidFill>
                <a:latin typeface="Calibri"/>
              </a:rPr>
              <a:t>Freemium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361688"/>
            <a:ext cx="6858000" cy="53035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42569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Google Sheets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42569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Dashboard de metricas y calculo de ROI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453128"/>
            <a:ext cx="1005840" cy="292608"/>
          </a:xfrm>
          <a:prstGeom prst="rect">
            <a:avLst/>
          </a:prstGeom>
          <a:solidFill>
            <a:srgbClr val="DD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5352" y="4471416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4A"/>
                </a:solidFill>
                <a:latin typeface="Calibri"/>
              </a:rPr>
              <a:t>Gratis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892040"/>
            <a:ext cx="6858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95604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Gmail / WhatsApp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95604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Canales de entrada del agente de atencion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983479"/>
            <a:ext cx="1005840" cy="292608"/>
          </a:xfrm>
          <a:prstGeom prst="rect">
            <a:avLst/>
          </a:prstGeom>
          <a:solidFill>
            <a:srgbClr val="DD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45352" y="5001768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4A"/>
                </a:solidFill>
                <a:latin typeface="Calibri"/>
              </a:rPr>
              <a:t>Gratis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422392"/>
            <a:ext cx="6858000" cy="53035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48640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Zapier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48640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A99"/>
                </a:solidFill>
                <a:latin typeface="Calibri"/>
              </a:rPr>
              <a:t>Introduccion a la logica de automatizacion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5513831"/>
            <a:ext cx="1005840" cy="292608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5352" y="5532120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500A"/>
                </a:solidFill>
                <a:latin typeface="Calibri"/>
              </a:rPr>
              <a:t>Freemium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35240" y="1298448"/>
            <a:ext cx="4069080" cy="4983480"/>
          </a:xfrm>
          <a:prstGeom prst="rect">
            <a:avLst/>
          </a:prstGeom>
          <a:solidFill>
            <a:srgbClr val="0F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35240" y="1298448"/>
            <a:ext cx="4069080" cy="54864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18120" y="14447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Caso integrador: Lumina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8120" y="1901952"/>
            <a:ext cx="3703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B"/>
                </a:solidFill>
                <a:latin typeface="Calibri"/>
              </a:rPr>
              <a:t>A lo largo de las 20 semanas el alumno construye el sistema de atencion post-venta de Lumina, empresa de productos para el hogar.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18120" y="2852928"/>
            <a:ext cx="1783080" cy="1005840"/>
          </a:xfrm>
          <a:prstGeom prst="rect">
            <a:avLst/>
          </a:prstGeom>
          <a:solidFill>
            <a:srgbClr val="173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818120" y="2852928"/>
            <a:ext cx="1783080" cy="45720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0" y="2962656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40-80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80" y="351129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B"/>
                </a:solidFill>
                <a:latin typeface="Calibri"/>
              </a:rPr>
              <a:t>consultas/dia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756648" y="2852928"/>
            <a:ext cx="1783080" cy="1005840"/>
          </a:xfrm>
          <a:prstGeom prst="rect">
            <a:avLst/>
          </a:prstGeom>
          <a:solidFill>
            <a:srgbClr val="173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756648" y="2852928"/>
            <a:ext cx="1783080" cy="45720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93808" y="2962656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4hs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93808" y="351129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B"/>
                </a:solidFill>
                <a:latin typeface="Calibri"/>
              </a:rPr>
              <a:t>trabajo manual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18120" y="3995928"/>
            <a:ext cx="1783080" cy="1005840"/>
          </a:xfrm>
          <a:prstGeom prst="rect">
            <a:avLst/>
          </a:prstGeom>
          <a:solidFill>
            <a:srgbClr val="173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818120" y="3995928"/>
            <a:ext cx="1783080" cy="45720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55280" y="4105656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92%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80" y="465429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B"/>
                </a:solidFill>
                <a:latin typeface="Calibri"/>
              </a:rPr>
              <a:t>resuelto por IA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756648" y="3995928"/>
            <a:ext cx="1783080" cy="1005840"/>
          </a:xfrm>
          <a:prstGeom prst="rect">
            <a:avLst/>
          </a:prstGeom>
          <a:solidFill>
            <a:srgbClr val="173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756648" y="3995928"/>
            <a:ext cx="1783080" cy="45720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93808" y="4105656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&lt;2min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93808" y="465429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B"/>
                </a:solidFill>
                <a:latin typeface="Calibri"/>
              </a:rPr>
              <a:t>de respuesta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18120" y="51663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A5BB"/>
                </a:solidFill>
                <a:latin typeface="Calibri"/>
              </a:rPr>
              <a:t>Al final lo adaptan a su propio negocio.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73936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2304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90672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49039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65776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24144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82512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79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99248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57616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15984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74352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32719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91088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49456" y="0"/>
            <a:ext cx="9144" cy="6858000"/>
          </a:xfrm>
          <a:prstGeom prst="rect">
            <a:avLst/>
          </a:prstGeom>
          <a:solidFill>
            <a:srgbClr val="1A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114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AA5BB"/>
                </a:solidFill>
                <a:latin typeface="Calibri"/>
              </a:rPr>
              <a:t>Propuesta de valor para la institucion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82296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Por que ofrecer
este programa.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331720"/>
            <a:ext cx="5394960" cy="1810512"/>
          </a:xfrm>
          <a:prstGeom prst="rect">
            <a:avLst/>
          </a:prstGeom>
          <a:solidFill>
            <a:srgbClr val="173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331720"/>
            <a:ext cx="5394960" cy="54864"/>
          </a:xfrm>
          <a:prstGeom prst="rect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2560320"/>
            <a:ext cx="420624" cy="420624"/>
          </a:xfrm>
          <a:prstGeom prst="ellipse">
            <a:avLst/>
          </a:prstGeom>
          <a:solidFill>
            <a:srgbClr val="D4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59689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24963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Demanda real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898648"/>
            <a:ext cx="4434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B"/>
                </a:solidFill>
                <a:latin typeface="Calibri"/>
              </a:rPr>
              <a:t>Perfil con alta demanda laboral. El programa cubre una necesidad no atendida en el mercado educativo hispanohablante.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2331720"/>
            <a:ext cx="5394960" cy="1810512"/>
          </a:xfrm>
          <a:prstGeom prst="rect">
            <a:avLst/>
          </a:prstGeom>
          <a:solidFill>
            <a:srgbClr val="173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2331720"/>
            <a:ext cx="5394960" cy="54864"/>
          </a:xfrm>
          <a:prstGeom prst="rect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55080" y="2560320"/>
            <a:ext cx="420624" cy="420624"/>
          </a:xfrm>
          <a:prstGeom prst="ellipse">
            <a:avLst/>
          </a:prstGeom>
          <a:solidFill>
            <a:srgbClr val="2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59689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4963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Diferenciacion institucional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898648"/>
            <a:ext cx="4434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B"/>
                </a:solidFill>
                <a:latin typeface="Calibri"/>
              </a:rPr>
              <a:t>Posiciona a la institucion en la vanguardia de la educacion en IA aplicada, con un enfoque practico y accessible.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361688"/>
            <a:ext cx="5394960" cy="1810512"/>
          </a:xfrm>
          <a:prstGeom prst="rect">
            <a:avLst/>
          </a:prstGeom>
          <a:solidFill>
            <a:srgbClr val="173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361688"/>
            <a:ext cx="5394960" cy="54864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5800" y="4590288"/>
            <a:ext cx="420624" cy="420624"/>
          </a:xfrm>
          <a:prstGeom prst="ellipse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626864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4526279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Escalabilidad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928616"/>
            <a:ext cx="4434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B"/>
                </a:solidFill>
                <a:latin typeface="Calibri"/>
              </a:rPr>
              <a:t>El formato part-time y la plataforma digital permiten ampliar la cohorte sin infraestructura adicional significativa.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4361688"/>
            <a:ext cx="5394960" cy="1810512"/>
          </a:xfrm>
          <a:prstGeom prst="rect">
            <a:avLst/>
          </a:prstGeom>
          <a:solidFill>
            <a:srgbClr val="173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4361688"/>
            <a:ext cx="5394960" cy="54864"/>
          </a:xfrm>
          <a:prstGeom prst="rect">
            <a:avLst/>
          </a:prstGeom>
          <a:solidFill>
            <a:srgbClr val="88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55080" y="4590288"/>
            <a:ext cx="420624" cy="420624"/>
          </a:xfrm>
          <a:prstGeom prst="ellipse">
            <a:avLst/>
          </a:prstGeom>
          <a:solidFill>
            <a:srgbClr val="88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4626864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526279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Empleabilidad tangible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4928616"/>
            <a:ext cx="4434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5BB"/>
                </a:solidFill>
                <a:latin typeface="Calibri"/>
              </a:rPr>
              <a:t>Cada alumno termina con 4 entregables funcionales y un sistema real para mostrar a empleadores o clientes.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53796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A99"/>
                </a:solidFill>
                <a:latin typeface="Calibri"/>
              </a:rPr>
              <a:t>Disponible para iniciar en la proxima cohorte  |  Material didactico completo listo para usar  |  Caso practico incluido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