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3657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0" y="3657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79" y="3657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59" y="3657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0" y="3657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3657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3657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4080" y="3657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24159" y="3657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3657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04320" y="3657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3520" y="11430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0" y="11430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79" y="11430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23759" y="11430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63840" y="11430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0" y="11430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11430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84080" y="11430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24159" y="11430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64240" y="11430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04320" y="11430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03520" y="19202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0" y="19202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79" y="19202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23759" y="19202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0" y="19202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03920" y="19202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0" y="19202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0" y="19202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24159" y="19202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064240" y="19202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704320" y="19202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303520" y="2697479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43600" y="2697479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83679" y="2697479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223759" y="2697479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63840" y="2697479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03920" y="2697479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44000" y="2697479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84080" y="2697479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24159" y="2697479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64240" y="2697479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04320" y="2697479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03520" y="347472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43600" y="347472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583679" y="347472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223759" y="347472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863840" y="347472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503920" y="347472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44000" y="347472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784080" y="347472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24159" y="347472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064240" y="347472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704320" y="347472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303520" y="42519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43600" y="42519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583679" y="42519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223759" y="42519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863840" y="42519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03920" y="42519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144000" y="42519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784080" y="42519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424159" y="42519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064240" y="42519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704320" y="425196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3520" y="50292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943600" y="50292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583679" y="50292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223759" y="50292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63840" y="50292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503920" y="50292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144000" y="50292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84080" y="50292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424159" y="50292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064240" y="50292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704320" y="502920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3520" y="5806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943600" y="5806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583679" y="5806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223759" y="5806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863840" y="5806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503920" y="5806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144000" y="5806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784080" y="5806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424159" y="5806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64240" y="5806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704320" y="5806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5760" y="502920"/>
            <a:ext cx="2926080" cy="402336"/>
          </a:xfrm>
          <a:prstGeom prst="rect">
            <a:avLst/>
          </a:prstGeom>
          <a:solidFill>
            <a:srgbClr val="2E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5488" y="566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4500A"/>
                </a:solidFill>
                <a:latin typeface="Calibri"/>
              </a:rPr>
              <a:t>DIPLOMATURA  |  20 SEMANAS  |  NO-CODE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5760" y="1097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AI Automation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2148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E6DF"/>
                </a:solidFill>
                <a:latin typeface="Calibri"/>
              </a:rPr>
              <a:t>Hace que tu negocio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5760" y="26517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500A"/>
                </a:solidFill>
                <a:latin typeface="Calibri"/>
              </a:rPr>
              <a:t>trabaje por vos.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34290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AFA8"/>
                </a:solidFill>
                <a:latin typeface="Calibri"/>
              </a:rPr>
              <a:t>20 clases de 2hs para profesionales que quieren
aplicar IA en su negocio — sin codigo, sin programadores,
con resultados desde la semana 1.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5166360"/>
            <a:ext cx="2560320" cy="123444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65760" y="5166360"/>
            <a:ext cx="2560320" cy="54864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30352" y="527608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0976" y="54406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500A"/>
                </a:solidFill>
                <a:latin typeface="Calibri"/>
              </a:rPr>
              <a:t/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0352" y="59893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clases de 2hs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063240" y="5166360"/>
            <a:ext cx="2560320" cy="123444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063240" y="5166360"/>
            <a:ext cx="2560320" cy="54864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27832" y="527608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48456" y="54406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500A"/>
                </a:solidFill>
                <a:latin typeface="Calibri"/>
              </a:rPr>
              <a:t>hs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27832" y="59893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en total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400800" y="1645920"/>
            <a:ext cx="5303520" cy="365760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400800" y="1645920"/>
            <a:ext cx="5303520" cy="640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772400" y="21031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D4500A"/>
                </a:solidFill>
                <a:latin typeface="Calibri"/>
              </a:rPr>
              <a:t>AI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583680" y="4023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Automation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83680" y="4617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0"/>
                </a:solidFill>
                <a:latin typeface="Calibri"/>
              </a:rPr>
              <a:t>Diplomatura No-Code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00800" y="5303520"/>
            <a:ext cx="1691640" cy="685800"/>
          </a:xfrm>
          <a:prstGeom prst="rect">
            <a:avLst/>
          </a:prstGeom>
          <a:solidFill>
            <a:srgbClr val="1E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183879" y="5303520"/>
            <a:ext cx="1691640" cy="685800"/>
          </a:xfrm>
          <a:prstGeom prst="rect">
            <a:avLst/>
          </a:prstGeom>
          <a:solidFill>
            <a:srgbClr val="10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966960" y="5303520"/>
            <a:ext cx="1737360" cy="6858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46520" y="5422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4500A"/>
                </a:solidFill>
                <a:latin typeface="Calibri"/>
              </a:rPr>
              <a:t>Sin codigo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229600" y="5422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4A"/>
                </a:solidFill>
                <a:latin typeface="Calibri"/>
              </a:rPr>
              <a:t>24/7 activo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012680" y="5422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D52A0"/>
                </a:solidFill>
                <a:latin typeface="Calibri"/>
              </a:rPr>
              <a:t>ROI medible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4500A"/>
                </a:solidFill>
                <a:latin typeface="Calibri"/>
              </a:rPr>
              <a:t>EL 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686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Cuantas horas de tu semana
se van en tareas repetitivas?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3520440" cy="166420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64008" cy="16642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478024"/>
            <a:ext cx="457200" cy="457200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50545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0391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Responder los mismos emails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441448"/>
            <a:ext cx="26060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Una y otra vez. Las mismas preguntas. A mano.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874519"/>
            <a:ext cx="3520440" cy="166420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874519"/>
            <a:ext cx="64008" cy="16642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16552" y="2478024"/>
            <a:ext cx="457200" cy="457200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50545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0391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Armar reportes manualmente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441448"/>
            <a:ext cx="26060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Copiar datos de un lado al otro. Cada semana.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3520440" cy="166420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74519"/>
            <a:ext cx="64008" cy="16642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1312" y="2478024"/>
            <a:ext cx="457200" cy="457200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50545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0391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Perseguir aprobaciones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441448"/>
            <a:ext cx="26060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Mensajes que esperan respuesta por dias.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3520440" cy="166420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703320"/>
            <a:ext cx="64008" cy="16642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1792" y="4306824"/>
            <a:ext cx="457200" cy="457200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33425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7" y="3867911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Cargar datos en sistemas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270248"/>
            <a:ext cx="26060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Formularios, planillas, CRMs. Sin parar.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3703320"/>
            <a:ext cx="3520440" cy="166420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703320"/>
            <a:ext cx="64008" cy="16642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16552" y="4306824"/>
            <a:ext cx="457200" cy="457200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2" y="433425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1768" y="3867911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Buscar informacion dispersa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4270248"/>
            <a:ext cx="26060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En emails, chats, carpetas. Todo por separado.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703320"/>
            <a:ext cx="3520440" cy="166420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703320"/>
            <a:ext cx="64008" cy="16642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11312" y="4306824"/>
            <a:ext cx="457200" cy="457200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33425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6528" y="3867911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Pagar trabajo automatizable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96528" y="4270248"/>
            <a:ext cx="26060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Tiempo de tu equipo en tareas de bajo valor.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17220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500A"/>
                </a:solidFill>
                <a:latin typeface="Calibri"/>
              </a:rPr>
              <a:t>La buena noticia: el 80% de estas tareas se pueden automatizar hoy, sin programar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4500A"/>
                </a:solidFill>
                <a:latin typeface="Calibri"/>
              </a:rPr>
              <a:t>EL PROGRAMA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No es un curso de tecnologia.
Es un curso para hacer rendir tu negocio.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2628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349240" cy="64008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4A"/>
                </a:solidFill>
                <a:latin typeface="Calibri"/>
              </a:rPr>
              <a:t>Lo que vas a lograr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87168"/>
            <a:ext cx="347472" cy="347472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542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6DF"/>
                </a:solidFill>
                <a:latin typeface="Calibri"/>
              </a:rPr>
              <a:t>Automatizar tareas repetitivas sin tocar codigo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9067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118103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6DF"/>
                </a:solidFill>
                <a:latin typeface="Calibri"/>
              </a:rPr>
              <a:t>Integrar IA en tus procesos actuales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39312"/>
            <a:ext cx="347472" cy="347472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66744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6941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6DF"/>
                </a:solidFill>
                <a:latin typeface="Calibri"/>
              </a:rPr>
              <a:t>Atender clientes 24/7 sin sumar personal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215384"/>
            <a:ext cx="347472" cy="347472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4281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42702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6DF"/>
                </a:solidFill>
                <a:latin typeface="Calibri"/>
              </a:rPr>
              <a:t>Generar reportes y documentos automaticamente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791456"/>
            <a:ext cx="347472" cy="347472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1888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8463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6DF"/>
                </a:solidFill>
                <a:latin typeface="Calibri"/>
              </a:rPr>
              <a:t>Medir el ROI real de cada automatizacion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367528"/>
            <a:ext cx="347472" cy="347472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9496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54223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6DF"/>
                </a:solidFill>
                <a:latin typeface="Calibri"/>
              </a:rPr>
              <a:t>Presentar el impacto a tu equipo o inversores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874519"/>
            <a:ext cx="5349240" cy="452628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874519"/>
            <a:ext cx="5349240" cy="640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011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00A"/>
                </a:solidFill>
                <a:latin typeface="Calibri"/>
              </a:rPr>
              <a:t>Formato del programa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2450592"/>
            <a:ext cx="384048" cy="384048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47802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4688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 clase por semana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7249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En vivo  |  2 horas cada una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3026664"/>
            <a:ext cx="384048" cy="384048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05409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0449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20 semanas - 40 horas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3009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Part-time, compatible con trabajo</a:t>
            </a:r>
          </a:p>
        </p:txBody>
      </p:sp>
      <p:sp>
        <p:nvSpPr>
          <p:cNvPr id="37" name="Oval 36"/>
          <p:cNvSpPr/>
          <p:nvPr/>
        </p:nvSpPr>
        <p:spPr>
          <a:xfrm>
            <a:off x="6537960" y="3602736"/>
            <a:ext cx="384048" cy="384048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63016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62102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Proyecto por bloque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87705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Entregable real al final de cada etapa</a:t>
            </a:r>
          </a:p>
        </p:txBody>
      </p:sp>
      <p:sp>
        <p:nvSpPr>
          <p:cNvPr id="41" name="Oval 40"/>
          <p:cNvSpPr/>
          <p:nvPr/>
        </p:nvSpPr>
        <p:spPr>
          <a:xfrm>
            <a:off x="6537960" y="4178808"/>
            <a:ext cx="384048" cy="384048"/>
          </a:xfrm>
          <a:prstGeom prst="ellipse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20624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1970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Caso Lumina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45312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Hilo conductor de todo el programa</a:t>
            </a:r>
          </a:p>
        </p:txBody>
      </p:sp>
      <p:sp>
        <p:nvSpPr>
          <p:cNvPr id="45" name="Oval 44"/>
          <p:cNvSpPr/>
          <p:nvPr/>
        </p:nvSpPr>
        <p:spPr>
          <a:xfrm>
            <a:off x="6537960" y="4754880"/>
            <a:ext cx="384048" cy="384048"/>
          </a:xfrm>
          <a:prstGeom prst="ellipse">
            <a:avLst/>
          </a:prstGeom>
          <a:solidFill>
            <a:srgbClr val="6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478231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47731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Demo Day final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0292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Presentas tu sistema funcionando en vivo</a:t>
            </a:r>
          </a:p>
        </p:txBody>
      </p:sp>
      <p:sp>
        <p:nvSpPr>
          <p:cNvPr id="49" name="Oval 48"/>
          <p:cNvSpPr/>
          <p:nvPr/>
        </p:nvSpPr>
        <p:spPr>
          <a:xfrm>
            <a:off x="6537960" y="5330952"/>
            <a:ext cx="384048" cy="384048"/>
          </a:xfrm>
          <a:prstGeom prst="ellipse">
            <a:avLst/>
          </a:prstGeom>
          <a:solidFill>
            <a:srgbClr val="888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53492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Sin requisitos previos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560527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No necesitas saber programar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4500A"/>
                </a:solidFill>
                <a:latin typeface="Calibri"/>
              </a:rPr>
              <a:t>PARA QUIEN 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Para quien tiene un negocio
y quiere que rinda mas.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3657600" cy="324612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3657600" cy="640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84831"/>
            <a:ext cx="64008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Duenos de negocio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Tiendas online, servicios, locales. Queres que las partes repetitivas funcionen solas y dedicarte a lo que importa.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74519"/>
            <a:ext cx="3657600" cy="324612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3657600" cy="64008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84831"/>
            <a:ext cx="64008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Freelancers y consultores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9184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Vendes tu tiempo. Con automatizacion podes atender mas clientes, entregar mas rapido y cobrar mas.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874519"/>
            <a:ext cx="3657600" cy="324612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874519"/>
            <a:ext cx="3657600" cy="64008"/>
          </a:xfrm>
          <a:prstGeom prst="rect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58200" y="2057400"/>
            <a:ext cx="640080" cy="640080"/>
          </a:xfrm>
          <a:prstGeom prst="ellipse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084831"/>
            <a:ext cx="64008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834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Profesionales en empresas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29184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Marketing, ventas, operaciones. Tenes procesos manuales que consumen horas y queres resolverlos sin depender de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321808"/>
            <a:ext cx="11155680" cy="1261872"/>
          </a:xfrm>
          <a:prstGeom prst="rect">
            <a:avLst/>
          </a:prstGeom>
          <a:solidFill>
            <a:srgbClr val="1E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321808"/>
            <a:ext cx="11155680" cy="640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669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500A"/>
                </a:solidFill>
                <a:latin typeface="Calibri"/>
              </a:rPr>
              <a:t>No necesitas saber programar  |  No necesitas entender de tecnologia  |  Solo necesitas querer mejorar tu negocio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4500A"/>
                </a:solidFill>
                <a:latin typeface="Calibri"/>
              </a:rPr>
              <a:t>EL CASO DEL PROGRAMA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Lumina — de 4 horas manuales
a un agente que trabaja solo.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26280"/>
          </a:xfrm>
          <a:prstGeom prst="rect">
            <a:avLst/>
          </a:prstGeom>
          <a:solidFill>
            <a:srgbClr val="22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349240" cy="64008"/>
          </a:xfrm>
          <a:prstGeom prst="rect">
            <a:avLst/>
          </a:prstGeom>
          <a:solidFill>
            <a:srgbClr val="99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040"/>
                </a:solidFill>
                <a:latin typeface="Calibri"/>
              </a:rPr>
              <a:t>ANTES — Sin automatizacion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87168"/>
            <a:ext cx="329184" cy="329184"/>
          </a:xfrm>
          <a:prstGeom prst="ellipse">
            <a:avLst/>
          </a:prstGeom>
          <a:solidFill>
            <a:srgbClr val="99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523744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Un empleado revisa 80 emails por dia a mano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063240"/>
            <a:ext cx="329184" cy="329184"/>
          </a:xfrm>
          <a:prstGeom prst="ellipse">
            <a:avLst/>
          </a:prstGeom>
          <a:solidFill>
            <a:srgbClr val="99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90672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099815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Busca el pedido en otro sistema por separado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39312"/>
            <a:ext cx="329184" cy="329184"/>
          </a:xfrm>
          <a:prstGeom prst="ellipse">
            <a:avLst/>
          </a:prstGeom>
          <a:solidFill>
            <a:srgbClr val="99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66744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675887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Copia y pega respuestas de un Word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215384"/>
            <a:ext cx="329184" cy="329184"/>
          </a:xfrm>
          <a:prstGeom prst="ellipse">
            <a:avLst/>
          </a:prstGeom>
          <a:solidFill>
            <a:srgbClr val="99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42816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251960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Fines de semana y feriados: nadie responde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791456"/>
            <a:ext cx="329184" cy="329184"/>
          </a:xfrm>
          <a:prstGeom prst="ellipse">
            <a:avLst/>
          </a:prstGeom>
          <a:solidFill>
            <a:srgbClr val="99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1888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828031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3 dias de demora promedio en responder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367528"/>
            <a:ext cx="329184" cy="329184"/>
          </a:xfrm>
          <a:prstGeom prst="ellipse">
            <a:avLst/>
          </a:prstGeom>
          <a:solidFill>
            <a:srgbClr val="99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94960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404104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Sin registro de que se respondio ni cuando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874519"/>
            <a:ext cx="5349240" cy="4526280"/>
          </a:xfrm>
          <a:prstGeom prst="rect">
            <a:avLst/>
          </a:prstGeom>
          <a:solidFill>
            <a:srgbClr val="10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874519"/>
            <a:ext cx="5349240" cy="64008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011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CC80"/>
                </a:solidFill>
                <a:latin typeface="Calibri"/>
              </a:rPr>
              <a:t>DESPUES — Con el agente de IA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2487168"/>
            <a:ext cx="329184" cy="329184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514600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252374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El agente clasifica cada consulta en segundos</a:t>
            </a:r>
          </a:p>
        </p:txBody>
      </p:sp>
      <p:sp>
        <p:nvSpPr>
          <p:cNvPr id="32" name="Oval 31"/>
          <p:cNvSpPr/>
          <p:nvPr/>
        </p:nvSpPr>
        <p:spPr>
          <a:xfrm>
            <a:off x="6537960" y="3063240"/>
            <a:ext cx="329184" cy="329184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090672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3099815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Consulta el estado del pedido automaticamente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3639312"/>
            <a:ext cx="329184" cy="329184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666744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3675887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Responde con informacion personalizada y real</a:t>
            </a:r>
          </a:p>
        </p:txBody>
      </p:sp>
      <p:sp>
        <p:nvSpPr>
          <p:cNvPr id="38" name="Oval 37"/>
          <p:cNvSpPr/>
          <p:nvPr/>
        </p:nvSpPr>
        <p:spPr>
          <a:xfrm>
            <a:off x="6537960" y="4215384"/>
            <a:ext cx="329184" cy="329184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242816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425196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Funciona 24/7 sin supervision</a:t>
            </a:r>
          </a:p>
        </p:txBody>
      </p:sp>
      <p:sp>
        <p:nvSpPr>
          <p:cNvPr id="41" name="Oval 40"/>
          <p:cNvSpPr/>
          <p:nvPr/>
        </p:nvSpPr>
        <p:spPr>
          <a:xfrm>
            <a:off x="6537960" y="4791456"/>
            <a:ext cx="329184" cy="329184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81888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4828031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Tiempo de respuesta: menos de 2 minutos</a:t>
            </a:r>
          </a:p>
        </p:txBody>
      </p:sp>
      <p:sp>
        <p:nvSpPr>
          <p:cNvPr id="44" name="Oval 43"/>
          <p:cNvSpPr/>
          <p:nvPr/>
        </p:nvSpPr>
        <p:spPr>
          <a:xfrm>
            <a:off x="6537960" y="5367528"/>
            <a:ext cx="329184" cy="329184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5394960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540410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Todo registrado con metricas de atencion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4500A"/>
                </a:solidFill>
                <a:latin typeface="Calibri"/>
              </a:rPr>
              <a:t>CASO LUMINA — ARQUITECTURA DEL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6 pasos. Completamente automatico.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5596128" cy="1627632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64008" cy="162763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1956816"/>
            <a:ext cx="475488" cy="475488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8424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27048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Llega un email o 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38528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El flujo se activa solo al recibir una consulta. Sin revision manual.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2578608"/>
            <a:ext cx="731520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61518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Gmail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578608"/>
            <a:ext cx="896112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61518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WhatsApp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4952" y="2578608"/>
            <a:ext cx="731520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392" y="261518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n8n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389888"/>
            <a:ext cx="5596128" cy="1627632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1389888"/>
            <a:ext cx="64008" cy="162763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1956816"/>
            <a:ext cx="475488" cy="475488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8424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1527048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 IA clasifica el mensaje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1938528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ChatGPT lee el mensaje y decide: es consulta simple o reclamo complejo?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04888" y="2578608"/>
            <a:ext cx="818388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96327" y="2615184"/>
            <a:ext cx="7269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ChatGPT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4715" y="2578608"/>
            <a:ext cx="740664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6155" y="2615184"/>
            <a:ext cx="649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Gemini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46819" y="2578608"/>
            <a:ext cx="740664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38259" y="2615184"/>
            <a:ext cx="649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Prompt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182112"/>
            <a:ext cx="5596128" cy="1627632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182112"/>
            <a:ext cx="64008" cy="162763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1792" y="3749039"/>
            <a:ext cx="475488" cy="475488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77647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331927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Busca el pedido automaticamente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3730752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Consulta el estado real en Airtable usando el email o numero de pedido.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440" y="4370832"/>
            <a:ext cx="896112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40740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Airtable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21992" y="4370832"/>
            <a:ext cx="1284732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13432" y="4407408"/>
            <a:ext cx="11932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Google Sheets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27648" y="3182112"/>
            <a:ext cx="5596128" cy="1627632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7648" y="3182112"/>
            <a:ext cx="64008" cy="1627632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92240" y="3749039"/>
            <a:ext cx="475488" cy="475488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77647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8" y="331927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Redacta respuesta personalizada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888" y="3730752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La IA escribe una respuesta con los datos reales del pedido y el tono de la marca.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04888" y="4370832"/>
            <a:ext cx="818388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96327" y="4407408"/>
            <a:ext cx="7269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ChatGPT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14715" y="4370832"/>
            <a:ext cx="1051560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06155" y="4407408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Gmail Send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974336"/>
            <a:ext cx="5596128" cy="1627632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4974336"/>
            <a:ext cx="64008" cy="1627632"/>
          </a:xfrm>
          <a:prstGeom prst="rect">
            <a:avLst/>
          </a:prstGeom>
          <a:solidFill>
            <a:srgbClr val="99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1792" y="5541264"/>
            <a:ext cx="475488" cy="475488"/>
          </a:xfrm>
          <a:prstGeom prst="ellipse">
            <a:avLst/>
          </a:prstGeom>
          <a:solidFill>
            <a:srgbClr val="99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" y="5568696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5111496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Escala lo que no puede resolver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4440" y="5522975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Reclamos complejos van al equipo con historial completo y sugerencia de respuesta.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34440" y="6163055"/>
            <a:ext cx="731520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25880" y="6199631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Slack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6163055"/>
            <a:ext cx="1284732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48840" y="6199631"/>
            <a:ext cx="11932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Email interno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27648" y="4974336"/>
            <a:ext cx="5596128" cy="1627632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27648" y="4974336"/>
            <a:ext cx="64008" cy="1627632"/>
          </a:xfrm>
          <a:prstGeom prst="rect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492240" y="5541264"/>
            <a:ext cx="475488" cy="475488"/>
          </a:xfrm>
          <a:prstGeom prst="ellipse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5568696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04888" y="5111496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Registra y genera metricas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04888" y="5522975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Todo queda en Airtable. Dashboard muestra horas ahorradas y ROI automaticamente.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04888" y="6163055"/>
            <a:ext cx="896112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96327" y="6199631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Airtable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92440" y="6163055"/>
            <a:ext cx="740664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83879" y="6199631"/>
            <a:ext cx="649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Sheets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A6B4A"/>
                </a:solidFill>
                <a:latin typeface="Calibri"/>
              </a:rPr>
              <a:t>RESULTADO DEL CASO LUMINA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 4 horas manuales diarias
a 15 minutos de supervision.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5394960" cy="193852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5394960" cy="73152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67128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6440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AFA8"/>
                </a:solidFill>
                <a:latin typeface="Calibri"/>
              </a:rPr>
              <a:t>de consultas resueltas automaticamente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965960"/>
            <a:ext cx="5394960" cy="193852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965960"/>
            <a:ext cx="5394960" cy="73152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67128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&lt;2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6440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AFA8"/>
                </a:solidFill>
                <a:latin typeface="Calibri"/>
              </a:rPr>
              <a:t>minutos de tiempo de respuesta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78808"/>
            <a:ext cx="5394960" cy="193852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78808"/>
            <a:ext cx="5394960" cy="73152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79976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77256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AFA8"/>
                </a:solidFill>
                <a:latin typeface="Calibri"/>
              </a:rPr>
              <a:t>atencion sin personal extra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178808"/>
            <a:ext cx="5394960" cy="193852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178808"/>
            <a:ext cx="5394960" cy="73152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79976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4h &gt; 15m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477256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AFA8"/>
                </a:solidFill>
                <a:latin typeface="Calibri"/>
              </a:rPr>
              <a:t>de trabajo manual diario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500A"/>
                </a:solidFill>
                <a:latin typeface="Calibri"/>
              </a:rPr>
              <a:t>Y lo vas a construir vos — paso a paso, durante las 20 semanas del programa.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4500A"/>
                </a:solidFill>
                <a:latin typeface="Calibri"/>
              </a:rPr>
              <a:t>PLAN DE ESTUDIOS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4 bloques. 20 clases. Un resultado por semana.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55680" cy="1170432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9728" cy="117043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755648"/>
            <a:ext cx="411480" cy="411480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411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762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FA8"/>
                </a:solidFill>
                <a:latin typeface="Calibri"/>
              </a:rPr>
              <a:t>Sem 1-5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Fundamentos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0195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Identificar que automatizar, prompting para negocios, organizar datos y primer flujo con Zapier.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773936"/>
            <a:ext cx="740664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10512"/>
            <a:ext cx="649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Zapier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22792" y="1773936"/>
            <a:ext cx="896112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181051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Airtable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28632" y="1773936"/>
            <a:ext cx="818388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1810512"/>
            <a:ext cx="7269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ChatGPT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56748" y="1773936"/>
            <a:ext cx="740664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48188" y="1810512"/>
            <a:ext cx="649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Sheets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97480"/>
            <a:ext cx="11155680" cy="1170432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697480"/>
            <a:ext cx="109728" cy="1170432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3081528"/>
            <a:ext cx="411480" cy="411480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108960"/>
            <a:ext cx="411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502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FA8"/>
                </a:solidFill>
                <a:latin typeface="Calibri"/>
              </a:rPr>
              <a:t>Sem 6-10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2788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Automatizaciones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22783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n8n y Make de forma visual. Conectar Gmail, WhatsApp, Slack y Notion sin una linea de codigo.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099816"/>
            <a:ext cx="731520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313639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n8n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3099816"/>
            <a:ext cx="731520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8" y="313639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Make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54896" y="3099816"/>
            <a:ext cx="731520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46336" y="313639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Gmail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96144" y="3099816"/>
            <a:ext cx="731520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7584" y="313639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Slack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37392" y="3099816"/>
            <a:ext cx="740664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28832" y="3136392"/>
            <a:ext cx="649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Notion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023360"/>
            <a:ext cx="11155680" cy="1170432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023360"/>
            <a:ext cx="109728" cy="1170432"/>
          </a:xfrm>
          <a:prstGeom prst="rect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9808" y="4407408"/>
            <a:ext cx="411480" cy="411480"/>
          </a:xfrm>
          <a:prstGeom prst="ellipse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434840"/>
            <a:ext cx="411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828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FA8"/>
                </a:solidFill>
                <a:latin typeface="Calibri"/>
              </a:rPr>
              <a:t>Sem 11-15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4114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IA en tu negocio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45537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Integrar ChatGPT/Gemini en los flujos. Clasificar, responder y detectar clientes insatisfechos.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4425696"/>
            <a:ext cx="740664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4462272"/>
            <a:ext cx="649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OpenAI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22792" y="4425696"/>
            <a:ext cx="740664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14232" y="4462272"/>
            <a:ext cx="649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Gemini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73184" y="4425696"/>
            <a:ext cx="740664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64624" y="4462272"/>
            <a:ext cx="649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n8n AI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349240"/>
            <a:ext cx="11155680" cy="1170432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" y="5349240"/>
            <a:ext cx="109728" cy="1170432"/>
          </a:xfrm>
          <a:prstGeom prst="rect">
            <a:avLst/>
          </a:prstGeom>
          <a:solidFill>
            <a:srgbClr val="6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49808" y="5733288"/>
            <a:ext cx="411480" cy="411480"/>
          </a:xfrm>
          <a:prstGeom prst="ellipse">
            <a:avLst/>
          </a:prstGeom>
          <a:solidFill>
            <a:srgbClr val="6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5760720"/>
            <a:ext cx="4114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6153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FA8"/>
                </a:solidFill>
                <a:latin typeface="Calibri"/>
              </a:rPr>
              <a:t>Sem 16-20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5440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Agente completo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94560" y="58795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Construir el agente post-venta completo. Adaptarlo al negocio propio. Demo Day final.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5751576"/>
            <a:ext cx="1051560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0" y="5788152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n8n Agente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3688" y="5751576"/>
            <a:ext cx="896112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25128" y="578815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Airtable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39528" y="5751576"/>
            <a:ext cx="973836" cy="292608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30967" y="5788152"/>
            <a:ext cx="8823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AFA8"/>
                </a:solidFill>
                <a:latin typeface="Calibri"/>
              </a:rPr>
              <a:t>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4500A"/>
                </a:solidFill>
                <a:latin typeface="Calibri"/>
              </a:rPr>
              <a:t>STACK TECNOLOGICO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9144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Todas las herramientas son gratuitas
o tienen plan free generoso.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633472" cy="196596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633472" cy="640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39112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Motor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27248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Flujos 100% visuales.
Gratuito en cloud.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011680"/>
            <a:ext cx="685800" cy="256032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1991" y="2029968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4A"/>
                </a:solidFill>
                <a:latin typeface="Calibri"/>
              </a:rPr>
              <a:t>FREE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828800"/>
            <a:ext cx="2633472" cy="196596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18688" y="1828800"/>
            <a:ext cx="2633472" cy="640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2011680"/>
            <a:ext cx="566928" cy="566928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2039112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72491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Automatizaciones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127248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Conecta apps empresariales.
Sin codigo.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7488" y="2011680"/>
            <a:ext cx="685800" cy="256032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029968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4A"/>
                </a:solidFill>
                <a:latin typeface="Calibri"/>
              </a:rPr>
              <a:t>FREE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71616" y="1828800"/>
            <a:ext cx="2633472" cy="196596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71616" y="1828800"/>
            <a:ext cx="2633472" cy="64008"/>
          </a:xfrm>
          <a:prstGeom prst="rect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54496" y="2011680"/>
            <a:ext cx="566928" cy="566928"/>
          </a:xfrm>
          <a:prstGeom prst="ellipse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2039112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272491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ChatGPT / GPT-4o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3127248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Clasifica, redacta y decide
dentro del flujo.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0416" y="2011680"/>
            <a:ext cx="685800" cy="256032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029968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4A"/>
                </a:solidFill>
                <a:latin typeface="Calibri"/>
              </a:rPr>
              <a:t>FREE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24544" y="1828800"/>
            <a:ext cx="2633472" cy="196596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24544" y="1828800"/>
            <a:ext cx="2633472" cy="64008"/>
          </a:xfrm>
          <a:prstGeom prst="rect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07424" y="2011680"/>
            <a:ext cx="566928" cy="566928"/>
          </a:xfrm>
          <a:prstGeom prst="ellipse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7424" y="2039112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272491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Google Gemini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3127248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Alternativa gratuita de IA.
Plan free generoso.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53344" y="2011680"/>
            <a:ext cx="685800" cy="256032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0776" y="2029968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4A"/>
                </a:solidFill>
                <a:latin typeface="Calibri"/>
              </a:rPr>
              <a:t>FREE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069080"/>
            <a:ext cx="2633472" cy="196596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069080"/>
            <a:ext cx="2633472" cy="64008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8640" y="4251960"/>
            <a:ext cx="566928" cy="566928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279392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96519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Airtable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367528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Base de datos visual.
Sin SQL, sin codigo.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4251960"/>
            <a:ext cx="685800" cy="256032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21991" y="4270248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4A"/>
                </a:solidFill>
                <a:latin typeface="Calibri"/>
              </a:rPr>
              <a:t>FREE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18688" y="4069080"/>
            <a:ext cx="2633472" cy="196596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18688" y="4069080"/>
            <a:ext cx="2633472" cy="64008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01568" y="4251960"/>
            <a:ext cx="566928" cy="566928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01568" y="4279392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01568" y="496519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Google Sheets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01568" y="5367528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Dashboard de metricas
y calculo de ROI.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47488" y="4251960"/>
            <a:ext cx="685800" cy="256032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4270248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4A"/>
                </a:solidFill>
                <a:latin typeface="Calibri"/>
              </a:rPr>
              <a:t>FREE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71616" y="4069080"/>
            <a:ext cx="2633472" cy="196596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71616" y="4069080"/>
            <a:ext cx="2633472" cy="64008"/>
          </a:xfrm>
          <a:prstGeom prst="rect">
            <a:avLst/>
          </a:prstGeom>
          <a:solidFill>
            <a:srgbClr val="888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254496" y="4251960"/>
            <a:ext cx="566928" cy="566928"/>
          </a:xfrm>
          <a:prstGeom prst="ellipse">
            <a:avLst/>
          </a:prstGeom>
          <a:solidFill>
            <a:srgbClr val="888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54496" y="4279392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54496" y="496519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Gmail + WhatsApp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54496" y="5367528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Canales de entrada
del agente.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0416" y="4251960"/>
            <a:ext cx="685800" cy="256032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27848" y="4270248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4A"/>
                </a:solidFill>
                <a:latin typeface="Calibri"/>
              </a:rPr>
              <a:t>FREE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24544" y="4069080"/>
            <a:ext cx="2633472" cy="196596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24544" y="4069080"/>
            <a:ext cx="2633472" cy="64008"/>
          </a:xfrm>
          <a:prstGeom prst="rect">
            <a:avLst/>
          </a:prstGeom>
          <a:solidFill>
            <a:srgbClr val="888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107424" y="4251960"/>
            <a:ext cx="566928" cy="566928"/>
          </a:xfrm>
          <a:prstGeom prst="ellipse">
            <a:avLst/>
          </a:prstGeom>
          <a:solidFill>
            <a:srgbClr val="888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07424" y="4279392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SLK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07424" y="496519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Slack + Zapier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07424" y="5367528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Notificaciones al equipo
y flujos simples.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753344" y="4251960"/>
            <a:ext cx="685800" cy="256032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780776" y="4270248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4A"/>
                </a:solidFill>
                <a:latin typeface="Calibri"/>
              </a:rPr>
              <a:t>FREE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4500A"/>
                </a:solidFill>
                <a:latin typeface="Calibri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914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Cada clase = un resultado aplicable
esa misma semana en tu negocio.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2633472" cy="315468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2633472" cy="640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6192" y="2121408"/>
            <a:ext cx="475488" cy="475488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2148839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Clase en vivo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82112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1 vez por semana
2 horas de duracion
Conceptos + practica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500A"/>
                </a:solidFill>
                <a:latin typeface="Calibri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965960"/>
            <a:ext cx="2633472" cy="315468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965960"/>
            <a:ext cx="2633472" cy="64008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9120" y="2121408"/>
            <a:ext cx="475488" cy="475488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48839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7432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Ejercicio practico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3182112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Aplicar lo visto
a tu negocio
en el momento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500A"/>
                </a:solidFill>
                <a:latin typeface="Calibri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965960"/>
            <a:ext cx="2633472" cy="315468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1965960"/>
            <a:ext cx="2633472" cy="64008"/>
          </a:xfrm>
          <a:prstGeom prst="rect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42048" y="2121408"/>
            <a:ext cx="475488" cy="475488"/>
          </a:xfrm>
          <a:prstGeom prst="ellipse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42048" y="2148839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7432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Entregable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3182112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Al final de cada bloque
algo real funcionando
en tu negocio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3104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500A"/>
                </a:solidFill>
                <a:latin typeface="Calibri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1965960"/>
            <a:ext cx="2633472" cy="315468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1965960"/>
            <a:ext cx="2633472" cy="64008"/>
          </a:xfrm>
          <a:prstGeom prst="rect">
            <a:avLst/>
          </a:prstGeom>
          <a:solidFill>
            <a:srgbClr val="6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94976" y="2121408"/>
            <a:ext cx="475488" cy="475488"/>
          </a:xfrm>
          <a:prstGeom prst="ellipse">
            <a:avLst/>
          </a:prstGeom>
          <a:solidFill>
            <a:srgbClr val="6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94976" y="2148839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3" y="27432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Demo 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3" y="3182112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Semana 20
Presentacion en vivo
del sistema propio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376672"/>
            <a:ext cx="11155680" cy="1234440"/>
          </a:xfrm>
          <a:prstGeom prst="rect">
            <a:avLst/>
          </a:prstGeom>
          <a:solidFill>
            <a:srgbClr val="1E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376672"/>
            <a:ext cx="91440" cy="1234440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961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6DF"/>
                </a:solidFill>
                <a:latin typeface="Calibri"/>
              </a:rPr>
              <a:t>El caso Lumina es el hilo conductor de todo el programa. Cada clase avanza un paso mas
en la construccion del sistema completo — y al final lo adaptas a tu propio negocio.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4500A"/>
                </a:solidFill>
                <a:latin typeface="Calibri"/>
              </a:rPr>
              <a:t>QUE TE LLEVAS?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914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Al terminar el programa tenes
4 cosas funcionando en tu negocio.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11155680" cy="1042415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91440" cy="1042415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67127"/>
            <a:ext cx="475488" cy="475488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59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025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Mapa de automatizacion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23160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Plan de priorizacion con los 3 procesos de mayor impacto y el ROI estimado de cada uno.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22992" y="2221991"/>
            <a:ext cx="1234440" cy="320040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2402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FA8"/>
                </a:solidFill>
                <a:latin typeface="Calibri"/>
              </a:rPr>
              <a:t>Bloque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44952"/>
            <a:ext cx="11155680" cy="1042415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44952"/>
            <a:ext cx="91440" cy="1042415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337560"/>
            <a:ext cx="475488" cy="475488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64991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1729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Pipeline operativo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93592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Flujo real en n8n o Make que automatiza un proceso tuyo, conecta herramientas y notifica.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22992" y="3392424"/>
            <a:ext cx="1234440" cy="320040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59568" y="34107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FA8"/>
                </a:solidFill>
                <a:latin typeface="Calibri"/>
              </a:rPr>
              <a:t>Bloque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15383"/>
            <a:ext cx="11155680" cy="1042415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215383"/>
            <a:ext cx="91440" cy="1042415"/>
          </a:xfrm>
          <a:prstGeom prst="rect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507992"/>
            <a:ext cx="475488" cy="475488"/>
          </a:xfrm>
          <a:prstGeom prst="ellipse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35424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34339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Sistema de atencion con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764023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Agente que recibe mensajes, los clasifica con IA, responde los simples y escala los complejos.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22992" y="4562855"/>
            <a:ext cx="1234440" cy="320040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59568" y="45811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FA8"/>
                </a:solidFill>
                <a:latin typeface="Calibri"/>
              </a:rPr>
              <a:t>Bloque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385816"/>
            <a:ext cx="11155680" cy="1042415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385816"/>
            <a:ext cx="91440" cy="1042415"/>
          </a:xfrm>
          <a:prstGeom prst="rect">
            <a:avLst/>
          </a:prstGeom>
          <a:solidFill>
            <a:srgbClr val="6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5678424"/>
            <a:ext cx="475488" cy="475488"/>
          </a:xfrm>
          <a:prstGeom prst="ellipse">
            <a:avLst/>
          </a:prstGeom>
          <a:solidFill>
            <a:srgbClr val="6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05856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51383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Demo Day — sistema completo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934455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FA8"/>
                </a:solidFill>
                <a:latin typeface="Calibri"/>
              </a:rPr>
              <a:t>Tu sistema funcionando en vivo, adaptado a tu negocio, con metricas de impacto reales.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22992" y="5733288"/>
            <a:ext cx="1234440" cy="320040"/>
          </a:xfrm>
          <a:prstGeom prst="rect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59568" y="57515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AFA8"/>
                </a:solidFill>
                <a:latin typeface="Calibri"/>
              </a:rPr>
              <a:t>Bloque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4500A"/>
                </a:solidFill>
                <a:latin typeface="Calibri"/>
              </a:rPr>
              <a:t>SEMANA 20 — EL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Demo Day:
tu negocio
automatizado,
en vivo.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0690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AFA8"/>
                </a:solidFill>
                <a:latin typeface="Calibri"/>
              </a:rPr>
              <a:t>No es una presentacion de diapositivas.
Es una demo del sistema funcionando.
Ante el grupo, en tiempo real.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5394960"/>
            <a:ext cx="292608" cy="292608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42239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440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6DF"/>
                </a:solidFill>
                <a:latin typeface="Calibri"/>
              </a:rPr>
              <a:t>Sistema conectado y activo durante la demo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5788152"/>
            <a:ext cx="292608" cy="292608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815584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8338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6DF"/>
                </a:solidFill>
                <a:latin typeface="Calibri"/>
              </a:rPr>
              <a:t>Metricas reales de impacto en tu negocio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6181344"/>
            <a:ext cx="292608" cy="292608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20877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62270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6DF"/>
                </a:solidFill>
                <a:latin typeface="Calibri"/>
              </a:rPr>
              <a:t>Aprendizajes y proximos pasos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486400" cy="4114800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486400" cy="7315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9202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D4500A"/>
                </a:solidFill>
                <a:latin typeface="Calibri"/>
              </a:rPr>
              <a:t>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375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63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0"/>
                </a:solidFill>
                <a:latin typeface="Calibri"/>
              </a:rPr>
              <a:t>Semana 20 de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AFA8"/>
                </a:solidFill>
                <a:latin typeface="Calibri"/>
              </a:rPr>
              <a:t>Tu sistema. Funcionando. En vivo.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880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17904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85416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52928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20440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87952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55464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22976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90488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0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25511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93023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60536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28047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95559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63072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30584" y="18288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17904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85416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52928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0440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87952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5464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22976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90488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0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25511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93023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60536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528047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95559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863072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530584" y="85039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0392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517904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185416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852928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20440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87952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855464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522976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190488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58000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525511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193023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860536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528047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195559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863072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530584" y="151790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2880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50392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517904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85416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52928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520440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187952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855464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522976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190488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858000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5511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193023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860536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528047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195559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863072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530584" y="218541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82880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50392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517904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185416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852928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520440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187952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855464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522976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190488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858000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525511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193023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860536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528047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195559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863072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530584" y="285292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82880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50392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517904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185416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852928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520440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187952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855464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522976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190488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858000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525511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193023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536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528047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0195559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863072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530584" y="3520440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82880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2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517904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185416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852928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520440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187952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855464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522976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190488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858000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525511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193023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860536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528047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195559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863072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530584" y="4187952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82880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50392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517904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2185416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2852928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520440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187952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4855464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522976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190488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858000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7525511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193023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860536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528047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195559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863072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1530584" y="4855464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82880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50392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517904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185416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2852928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520440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187952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855464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522976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190488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858000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525511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193023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8860536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9528047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195559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863072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530584" y="5522976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82880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850392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517904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2185416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852928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520440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187952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4855464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522976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190488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8000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525511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8193023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860536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528047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195559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863072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530584" y="6190488"/>
            <a:ext cx="50292" cy="50292"/>
          </a:xfrm>
          <a:prstGeom prst="ellipse">
            <a:avLst/>
          </a:prstGeom>
          <a:solidFill>
            <a:srgbClr val="38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097280" y="128016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Listo para que tu negocio
trabaje por vos?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97280" y="329184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AFA8"/>
                </a:solidFill>
                <a:latin typeface="Calibri"/>
              </a:rPr>
              <a:t>20 semanas. 40 horas. Sin codigo. Con resultados reales.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97280" y="4160520"/>
            <a:ext cx="2304288" cy="111556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097280" y="4160520"/>
            <a:ext cx="2304288" cy="640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34439" y="4315968"/>
            <a:ext cx="384048" cy="384048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234439" y="434340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1x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737360" y="43342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 clase/semana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73736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2 horas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611880" y="4160520"/>
            <a:ext cx="2304288" cy="111556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611880" y="4160520"/>
            <a:ext cx="2304288" cy="64008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3749040" y="4315968"/>
            <a:ext cx="384048" cy="384048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749040" y="434340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251960" y="43342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40 horas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25196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en total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126480" y="4160520"/>
            <a:ext cx="2304288" cy="111556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126480" y="4160520"/>
            <a:ext cx="2304288" cy="64008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6263640" y="4315968"/>
            <a:ext cx="384048" cy="384048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263640" y="434340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766560" y="43342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Sin requisitos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76656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previos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8641080" y="4160520"/>
            <a:ext cx="2304288" cy="1115568"/>
          </a:xfrm>
          <a:prstGeom prst="rect">
            <a:avLst/>
          </a:prstGeom>
          <a:solidFill>
            <a:srgbClr val="28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641080" y="4160520"/>
            <a:ext cx="2304288" cy="64008"/>
          </a:xfrm>
          <a:prstGeom prst="rect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778240" y="4315968"/>
            <a:ext cx="384048" cy="384048"/>
          </a:xfrm>
          <a:prstGeom prst="ellipse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778240" y="434340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281159" y="43342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Caso Lumina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281159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AFA8"/>
                </a:solidFill>
                <a:latin typeface="Calibri"/>
              </a:rPr>
              <a:t>hilo conductor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017520" y="5532120"/>
            <a:ext cx="6126480" cy="1051560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017520" y="5705856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Inscribite al programa  -&gt;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